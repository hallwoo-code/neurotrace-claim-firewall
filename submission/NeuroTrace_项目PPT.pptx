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ef251dfe34da9" /><Relationship Type="http://schemas.openxmlformats.org/officeDocument/2006/relationships/extended-properties" Target="/docProps/app.xml" Id="R4dfaebd09527410b" /><Relationship Type="http://schemas.openxmlformats.org/officeDocument/2006/relationships/officeDocument" Target="/ppt/presentation.xml" Id="Ra244b5ef1e4043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3e7c3b7b5348f9"/>
  </p:sldMasterIdLst>
  <p:notesMasterIdLst>
    <p:notesMasterId xmlns:r="http://schemas.openxmlformats.org/officeDocument/2006/relationships" r:id="R21275acb9e9f4e83"/>
  </p:notesMasterIdLst>
  <p:sldIdLst>
    <p:sldId xmlns:r="http://schemas.openxmlformats.org/officeDocument/2006/relationships" id="256" r:id="R4e57844d25f44baf"/>
    <p:sldId xmlns:r="http://schemas.openxmlformats.org/officeDocument/2006/relationships" id="257" r:id="Rfcc6864a16374e8d"/>
    <p:sldId xmlns:r="http://schemas.openxmlformats.org/officeDocument/2006/relationships" id="258" r:id="R230c6d34e8e74bcc"/>
    <p:sldId xmlns:r="http://schemas.openxmlformats.org/officeDocument/2006/relationships" id="259" r:id="R01a136f14a0541c3"/>
    <p:sldId xmlns:r="http://schemas.openxmlformats.org/officeDocument/2006/relationships" id="260" r:id="R263dd09bedfe4743"/>
    <p:sldId xmlns:r="http://schemas.openxmlformats.org/officeDocument/2006/relationships" id="261" r:id="R8c4bfaff409147af"/>
    <p:sldId xmlns:r="http://schemas.openxmlformats.org/officeDocument/2006/relationships" id="262" r:id="R86c680c88cd44f64"/>
    <p:sldId xmlns:r="http://schemas.openxmlformats.org/officeDocument/2006/relationships" id="263" r:id="R4cc2724e6513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c219e0b72b44f6" /><Relationship Type="http://schemas.openxmlformats.org/officeDocument/2006/relationships/slideMaster" Target="/ppt/slideMasters/slideMaster1.xml" Id="Ra23e7c3b7b5348f9" /><Relationship Type="http://schemas.openxmlformats.org/officeDocument/2006/relationships/notesMaster" Target="/ppt/notesMasters/notesMaster1.xml" Id="R21275acb9e9f4e83" /><Relationship Type="http://schemas.openxmlformats.org/officeDocument/2006/relationships/presProps" Target="/ppt/presProps.xml" Id="R5a0787d5dfce4f7e" /><Relationship Type="http://schemas.openxmlformats.org/officeDocument/2006/relationships/tableStyles" Target="/ppt/tableStyles.xml" Id="Rc1348a8d336d4952" /><Relationship Type="http://schemas.openxmlformats.org/officeDocument/2006/relationships/slide" Target="/ppt/slides/slide1.xml" Id="R4e57844d25f44baf" /><Relationship Type="http://schemas.openxmlformats.org/officeDocument/2006/relationships/slide" Target="/ppt/slides/slide2.xml" Id="Rfcc6864a16374e8d" /><Relationship Type="http://schemas.openxmlformats.org/officeDocument/2006/relationships/slide" Target="/ppt/slides/slide3.xml" Id="R230c6d34e8e74bcc" /><Relationship Type="http://schemas.openxmlformats.org/officeDocument/2006/relationships/slide" Target="/ppt/slides/slide4.xml" Id="R01a136f14a0541c3" /><Relationship Type="http://schemas.openxmlformats.org/officeDocument/2006/relationships/slide" Target="/ppt/slides/slide5.xml" Id="R263dd09bedfe4743" /><Relationship Type="http://schemas.openxmlformats.org/officeDocument/2006/relationships/slide" Target="/ppt/slides/slide6.xml" Id="R8c4bfaff409147af" /><Relationship Type="http://schemas.openxmlformats.org/officeDocument/2006/relationships/slide" Target="/ppt/slides/slide7.xml" Id="R86c680c88cd44f64" /><Relationship Type="http://schemas.openxmlformats.org/officeDocument/2006/relationships/slide" Target="/ppt/slides/slide8.xml" Id="R4cc2724e6513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d5f4836a2b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d3982b3f54ee8" /><Relationship Type="http://schemas.openxmlformats.org/officeDocument/2006/relationships/notesMaster" Target="/ppt/notesMasters/notesMaster1.xml" Id="R3ab56832e347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71bdf0dc04302" /><Relationship Type="http://schemas.openxmlformats.org/officeDocument/2006/relationships/notesMaster" Target="/ppt/notesMasters/notesMaster1.xml" Id="Rd627138588e74c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3c312ed2f4c62" /><Relationship Type="http://schemas.openxmlformats.org/officeDocument/2006/relationships/notesMaster" Target="/ppt/notesMasters/notesMaster1.xml" Id="Rd065cedc17ec44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d50feefc4e4ab3" /><Relationship Type="http://schemas.openxmlformats.org/officeDocument/2006/relationships/notesMaster" Target="/ppt/notesMasters/notesMaster1.xml" Id="R1c209737d7654a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d38c346ea4aac" /><Relationship Type="http://schemas.openxmlformats.org/officeDocument/2006/relationships/notesMaster" Target="/ppt/notesMasters/notesMaster1.xml" Id="R49351a3e0b54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5f5c407874dac" /><Relationship Type="http://schemas.openxmlformats.org/officeDocument/2006/relationships/notesMaster" Target="/ppt/notesMasters/notesMaster1.xml" Id="R5495af43ab73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111fc940484376" /><Relationship Type="http://schemas.openxmlformats.org/officeDocument/2006/relationships/notesMaster" Target="/ppt/notesMasters/notesMaster1.xml" Id="R5d15888b02a642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c41058993a42c4" /><Relationship Type="http://schemas.openxmlformats.org/officeDocument/2006/relationships/notesMaster" Target="/ppt/notesMasters/notesMaster1.xml" Id="R3725b9db92cd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开场：科研 AI 已经很会总结论文，但更危险的错误不是编造，而是把真实发现写成范围过大的结论。NeuroTrace 在一句话进入论文前，先审计它究竟能被证据支持到哪里。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这句论断听起来专业，但把语境、隐喻类型、任务和加工阶段压在一起。长上下文解决的是文本可见性，不会自动建立引用边界。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项目黄金论断与审计规则：data/gold_evidence.json；docs/PROJECT_INTRO.md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演示只走一条路径：输入论断、编译七个维度、区分三种证据角色、完成人工门控，再生成可追溯 Evidence Pack。这个闭环不依赖在线模型。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README.md；docs/DEMO_SCRIPT.md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 不是无条件支持；Yao 直接否定跨类型稳定降低 N400；Baiocco 很重要，但只能证明任务和情绪边界。三篇论文形成支持、反例、边界的三角验证。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Tang et al. (2025), pp. 1, 12–13, Figs. 10–11</a:t>
            </a:r>
          </a:p>
          <a:p xmlns:a="http://schemas.openxmlformats.org/drawingml/2006/main">
            <a:r>
              <a:t>- Yao et al. (2025), pp. 1, 8–9, Figs. 4–5</a:t>
            </a:r>
          </a:p>
          <a:p xmlns:a="http://schemas.openxmlformats.org/drawingml/2006/main">
            <a:r>
              <a:t>- Baiocco et al. (2025), pp. 1, 10, Figs. 3,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原句把结果写成跨类型、稳定、单向。安全改写允许无效应、早期阻碍与后期促进并存，从而忠实保留证据差异。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src/claim_audit.py；data/gold_evidence.json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门控规则很简单：pending 和 reject 排除；needs_fix 没有修订值也排除。Baiocco 即使批准，角色仍不能升级为直接支持。通过后，证据包同时提供人类可读和机器可读格式。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src/review_store.py；src/exporter.py；tests/test_review_gate.py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项目不是把成功寄托在一次模型调用上。黄金路径完全离线，21 项测试通过，三篇 PDF 哈希一致，公开包不含论文、密钥或本机路径。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tests/；src/source_integrity.py；docs/THIRD_PARTY_AND_AI_DISCLOSURE.md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MVP 用三篇黄金论文证明完整闭环；20 篇语料审核台只是可选扩展，805 条候选不是 Gold。下一步可以让模型生成候选拆解，但最终边界判断和人工门控仍由防火墙约束。结尾：NeuroTrace，先审计，再写入论文。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README.md；docs/PREEXISTING_ASSETS_DISCLOSURE.md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0ec6cc03e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fd0357f224a33" /><Relationship Type="http://schemas.openxmlformats.org/officeDocument/2006/relationships/slideLayout" Target="/ppt/slideLayouts/slideLayout1.xml" Id="R005005468fb6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005468fb6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97647418340bf" /><Relationship Type="http://schemas.openxmlformats.org/officeDocument/2006/relationships/notesSlide" Target="/ppt/notesSlides/notesSlide1.xml" Id="R9a0e1ceae684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797a63bb4a65" /><Relationship Type="http://schemas.openxmlformats.org/officeDocument/2006/relationships/notesSlide" Target="/ppt/notesSlides/notesSlide2.xml" Id="R8c2edaf4e60b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2d5be31bc4413" /><Relationship Type="http://schemas.openxmlformats.org/officeDocument/2006/relationships/notesSlide" Target="/ppt/notesSlides/notesSlide3.xml" Id="Rd4b362d7b17f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5a7166b00422b" /><Relationship Type="http://schemas.openxmlformats.org/officeDocument/2006/relationships/notesSlide" Target="/ppt/notesSlides/notesSlide4.xml" Id="R2d032c6a790c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df778b93041a6" /><Relationship Type="http://schemas.openxmlformats.org/officeDocument/2006/relationships/notesSlide" Target="/ppt/notesSlides/notesSlide5.xml" Id="R642e2432779d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22f44ede648d6" /><Relationship Type="http://schemas.openxmlformats.org/officeDocument/2006/relationships/notesSlide" Target="/ppt/notesSlides/notesSlide6.xml" Id="Re4b2dbf178fd49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bf52d04604c26" /><Relationship Type="http://schemas.openxmlformats.org/officeDocument/2006/relationships/notesSlide" Target="/ppt/notesSlides/notesSlide7.xml" Id="R414ea54be25b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d571ca63b4c9a" /><Relationship Type="http://schemas.openxmlformats.org/officeDocument/2006/relationships/notesSlide" Target="/ppt/notesSlides/notesSlide8.xml" Id="R5c20227d8cd74f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F1083-0225-4AB9-A84A-8B3904F2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Challenge 01 · 为现实打个补丁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A699-CD52-4C2A-B8B9-C9506780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936"/>
                </a:solidFill>
              </a:defRPr>
            </a:pPr>
            <a:r>
              <a:rPr sz="4350" b="1">
                <a:solidFill>
                  <a:srgbClr val="252936"/>
                </a:solidFill>
              </a:rPr>
              <a:t>NeuroTrace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3E0D7-EF43-40D4-968D-39A9294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4351"/>
                </a:solidFill>
              </a:defRPr>
            </a:pPr>
            <a:r>
              <a:rPr sz="1875" b="0">
                <a:solidFill>
                  <a:srgbClr val="3D4351"/>
                </a:solidFill>
              </a:rPr>
              <a:t>ERP/EEG 科研论断防火墙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35FE8-A2D1-45C1-9A8D-433FC824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936"/>
                </a:solidFill>
              </a:defRPr>
            </a:pPr>
            <a:r>
              <a:rPr sz="2550" b="1">
                <a:solidFill>
                  <a:srgbClr val="252936"/>
                </a:solidFill>
              </a:rPr>
              <a:t>在论断进入论文前，</a:t>
            </a:r>
          </a:p>
          <a:p xmlns:a="http://schemas.openxmlformats.org/drawingml/2006/main">
            <a:pPr algn="l">
              <a:defRPr sz="2550" b="1">
                <a:solidFill>
                  <a:srgbClr val="252936"/>
                </a:solidFill>
              </a:defRPr>
            </a:pPr>
            <a:r>
              <a:rPr sz="2550" b="1">
                <a:solidFill>
                  <a:srgbClr val="252936"/>
                </a:solidFill>
              </a:rPr>
              <a:t>编译可核验的证据边界。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765F2-93D8-4266-AC08-EF95443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75F9C-7AB1-4656-8562-F7FB4DDC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F"/>
                </a:solidFill>
              </a:defRPr>
            </a:pPr>
            <a:r>
              <a:rPr sz="1275" b="0">
                <a:solidFill>
                  <a:srgbClr val="68707F"/>
                </a:solidFill>
              </a:rPr>
              <a:t>3 篇黄金论文  ·  1 条黄金论断  ·  HITL 人工门控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A885-20A4-472C-A2AE-58DE434C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3981450" cy="417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FE6EA-595B-4858-BCC7-E1B1AEC5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候选论断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3D916-C138-4011-8F54-084D6DAE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936"/>
                </a:solidFill>
              </a:defRPr>
            </a:pPr>
            <a:r>
              <a:rPr sz="2025" b="1">
                <a:solidFill>
                  <a:srgbClr val="252936"/>
                </a:solidFill>
              </a:rPr>
              <a:t>“支持性语境会跨隐喻类型</a:t>
            </a:r>
          </a:p>
          <a:p xmlns:a="http://schemas.openxmlformats.org/drawingml/2006/main">
            <a:pPr algn="l">
              <a:defRPr sz="2025" b="1">
                <a:solidFill>
                  <a:srgbClr val="252936"/>
                </a:solidFill>
              </a:defRPr>
            </a:pPr>
            <a:r>
              <a:rPr sz="2025" b="1">
                <a:solidFill>
                  <a:srgbClr val="252936"/>
                </a:solidFill>
              </a:rPr>
              <a:t>稳定降低 N400。”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54503-9357-4E21-B6A1-7313FB92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09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B73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79B8-BF28-4B9A-9D5E-24AC534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385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3A3A"/>
                </a:solidFill>
              </a:defRPr>
            </a:pPr>
            <a:r>
              <a:rPr sz="1200" b="1">
                <a:solidFill>
                  <a:srgbClr val="B73A3A"/>
                </a:solidFill>
              </a:rPr>
              <a:t>OVERGENERALIZED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81656-B671-4562-BA43-924BE8FA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4351"/>
                </a:solidFill>
              </a:defRPr>
            </a:pPr>
            <a:r>
              <a:rPr sz="1425" b="1">
                <a:solidFill>
                  <a:srgbClr val="3D4351"/>
                </a:solidFill>
              </a:rPr>
              <a:t>真实论文 ≠ 可无限泛化的结论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49CE8-5922-4F3A-8903-520D2E5C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F"/>
                </a:solidFill>
              </a:defRPr>
            </a:pPr>
            <a:r>
              <a:rPr sz="975" b="0">
                <a:solidFill>
                  <a:srgbClr val="68707F"/>
                </a:solidFill>
              </a:rPr>
              <a:t>2026 · DUT Hackathon S2</a:t>
            </a:r>
          </a:p>
        </p:txBody>
      </p:sp>
    </p:spTree>
    <p:extLst>
      <p:ext uri="{BB962C8B-B14F-4D97-AF65-F5344CB8AC3E}">
        <p14:creationId xmlns:p14="http://schemas.microsoft.com/office/powerpoint/2010/main" val="814185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ED7D8-372D-4AB5-8F1A-19110B92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453E-9D13-4DE6-821D-F95E85FF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PROBLEM / 真实写作风险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EBDB8-A264-45AC-9E1F-B0D5877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5D546-7675-4677-9B9B-10D08E7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论文可以都是真的，结论仍然可能写过头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9D8F3-8E7A-40CC-9482-31894EB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A7B78-3028-4FD7-A941-942C883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95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Supportive contexts consistently facilitate metaphor comprehension</a:t>
            </a:r>
          </a:p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by reducing N400 amplitudes across metaphor types.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22EC9-1DAA-44E4-BEF0-B403333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3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220A1-FBE7-4583-8FBF-D55168EC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3A3A"/>
                </a:solidFill>
              </a:defRPr>
            </a:pPr>
            <a:r>
              <a:rPr sz="1200" b="1">
                <a:solidFill>
                  <a:srgbClr val="B73A3A"/>
                </a:solidFill>
              </a:rPr>
              <a:t>三个危险词组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1B8B5-6352-4048-AE6B-19C2711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3A3A"/>
                </a:solidFill>
              </a:defRPr>
            </a:pPr>
            <a:r>
              <a:rPr sz="1275" b="1">
                <a:solidFill>
                  <a:srgbClr val="B73A3A"/>
                </a:solidFill>
              </a:rPr>
              <a:t>consistently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3F1E0-EE44-4CFF-A4BE-53A84CA6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把条件性发现写成稳定规律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0A47A-F4A1-4C55-88FB-95C1A21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3A3A"/>
                </a:solidFill>
              </a:defRPr>
            </a:pPr>
            <a:r>
              <a:rPr sz="1275" b="1">
                <a:solidFill>
                  <a:srgbClr val="B73A3A"/>
                </a:solidFill>
              </a:rPr>
              <a:t>across metaphor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63B05-4E33-4918-AA62-962E236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24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把不同隐喻类型压成一个结论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8F072-355A-44C5-9415-1D546D79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3A3A"/>
                </a:solidFill>
              </a:defRPr>
            </a:pPr>
            <a:r>
              <a:rPr sz="1275" b="1">
                <a:solidFill>
                  <a:srgbClr val="B73A3A"/>
                </a:solidFill>
              </a:rPr>
              <a:t>reducing N400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5A889-F658-42B0-B714-C0DA3367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76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忽略无效应、方向反转与加工阶段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E1D1C-1A81-44F2-817A-D8F14398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219450" cy="32766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5EEC5-9468-4DB3-92CF-B2EDFE1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936"/>
                </a:solidFill>
              </a:defRPr>
            </a:pPr>
            <a:r>
              <a:rPr sz="1650" b="1">
                <a:solidFill>
                  <a:srgbClr val="252936"/>
                </a:solidFill>
              </a:rPr>
              <a:t>长上下文能提供更多文本，</a:t>
            </a:r>
          </a:p>
          <a:p xmlns:a="http://schemas.openxmlformats.org/drawingml/2006/main">
            <a:pPr algn="l">
              <a:defRPr sz="1650" b="1">
                <a:solidFill>
                  <a:srgbClr val="252936"/>
                </a:solidFill>
              </a:defRPr>
            </a:pPr>
            <a:r>
              <a:rPr sz="1650" b="1">
                <a:solidFill>
                  <a:srgbClr val="252936"/>
                </a:solidFill>
              </a:rPr>
              <a:t>却不会自动回答：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1BCAB-26B1-403D-B3EE-AD4A9338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86125"/>
            <a:ext cx="2590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D2"/>
                </a:solidFill>
              </a:defRPr>
            </a:pPr>
            <a:r>
              <a:rPr sz="2250" b="1">
                <a:solidFill>
                  <a:srgbClr val="1769D2"/>
                </a:solidFill>
              </a:rPr>
              <a:t>这篇论文</a:t>
            </a:r>
          </a:p>
          <a:p xmlns:a="http://schemas.openxmlformats.org/drawingml/2006/main">
            <a:pPr algn="l">
              <a:defRPr sz="2250" b="1">
                <a:solidFill>
                  <a:srgbClr val="1769D2"/>
                </a:solidFill>
              </a:defRPr>
            </a:pPr>
            <a:r>
              <a:rPr sz="2250" b="1">
                <a:solidFill>
                  <a:srgbClr val="1769D2"/>
                </a:solidFill>
              </a:rPr>
              <a:t>对这句话</a:t>
            </a:r>
          </a:p>
          <a:p xmlns:a="http://schemas.openxmlformats.org/drawingml/2006/main">
            <a:pPr algn="l">
              <a:defRPr sz="2250" b="1">
                <a:solidFill>
                  <a:srgbClr val="1769D2"/>
                </a:solidFill>
              </a:defRPr>
            </a:pPr>
            <a:r>
              <a:rPr sz="2250" b="1">
                <a:solidFill>
                  <a:srgbClr val="1769D2"/>
                </a:solidFill>
              </a:rPr>
              <a:t>究竟能支持到哪里？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C64CF-31D8-4940-8C7D-70A662D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4F489-4752-4111-BE0A-C57890B6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DB708-A6AF-4E75-BBDA-CD937CF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575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351E3-CD77-4576-AA28-4B65BCBC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A2327-0C0D-4600-8AD1-5D130026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PRODUCT / 唯一演示路径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33DA1-39CE-4833-97D1-3A19D11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A43E-B162-4216-84CC-C5F04A5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NeuroTrace 把写作前的一句话变成可核验流程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43139-ED06-4E0D-AF65-16A85E3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5DF"/>
          </a:solidFill>
          <a:ln xmlns:a="http://schemas.openxmlformats.org/drawingml/2006/main" w="0">
            <a:solidFill>
              <a:srgbClr val="CF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4E5EE-0C5B-4B96-AD74-EDAB5D2E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9085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5DF"/>
          </a:solidFill>
          <a:ln xmlns:a="http://schemas.openxmlformats.org/drawingml/2006/main" w="0">
            <a:solidFill>
              <a:srgbClr val="CF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5B06C-ABFE-40F6-9729-665DDBC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5DF"/>
          </a:solidFill>
          <a:ln xmlns:a="http://schemas.openxmlformats.org/drawingml/2006/main" w="0">
            <a:solidFill>
              <a:srgbClr val="CF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C6818-D07F-472A-B7BB-21923B8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9085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5DF"/>
          </a:solidFill>
          <a:ln xmlns:a="http://schemas.openxmlformats.org/drawingml/2006/main" w="0">
            <a:solidFill>
              <a:srgbClr val="CF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95642-22E7-4BD2-B0A0-190198AE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14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B407C-BB82-420D-A508-D952FA9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C2B18-416E-45A0-9B51-A77EB4F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输入论断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7E097-22FC-452B-ADDA-04061FA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不是先生成，</a:t>
            </a:r>
          </a:p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而是先定义待审计对象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66B0-1012-4768-BA86-CEC7DE7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9800"/>
            <a:ext cx="1714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018FF-8A4D-4B4F-A7F9-EBF9CF1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4745-2491-49EE-B4C4-A21EE6D2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编译维度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26B4C-C88B-4A52-99E2-B615FD9E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099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对象 · 语境 · 任务</a:t>
            </a:r>
          </a:p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ERP · 阶段 · 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470C6-8BBF-4A21-9B5E-D2EC560E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714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10FC7-950F-41B1-9A59-71F0718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B5191-378B-40C3-BEB1-ED2EF72C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匹配证据角色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1DD45-9CA6-4827-973B-23DF172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支持 · 限定 · 边界</a:t>
            </a:r>
          </a:p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并锁定 directness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F42DA-2CCC-40CF-A7A9-63F05A5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09800"/>
            <a:ext cx="1714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D3712-4602-453A-8836-2676B54A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87714-B395-4EDC-822F-499E383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人工门控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7C637-0D3D-4FAC-A1DE-62DE044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099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approve / needs_fix</a:t>
            </a:r>
          </a:p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未通过不得导出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81A27-3842-4CEB-8620-14601021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714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9F530-2F6C-4909-BE3E-84E00FE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38CF2-EFDB-455E-BB95-6C4E3ECE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Evidence Pack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63B5F-A702-40CF-AACA-FD0D4E1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99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安全改写 + 页码图号</a:t>
            </a:r>
          </a:p>
          <a:p xmlns:a="http://schemas.openxmlformats.org/drawingml/2006/main">
            <a:pPr algn="l">
              <a:defRPr sz="1125" b="0">
                <a:solidFill>
                  <a:srgbClr val="3D4351"/>
                </a:solidFill>
              </a:defRPr>
            </a:pPr>
            <a:r>
              <a:rPr sz="1125" b="0">
                <a:solidFill>
                  <a:srgbClr val="3D4351"/>
                </a:solidFill>
              </a:rPr>
              <a:t>审核记录 + SHA256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1DDF3-7F6C-4603-8AAD-9A3B3602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936"/>
                </a:solidFill>
              </a:defRPr>
            </a:pPr>
            <a:r>
              <a:rPr sz="1800" b="1">
                <a:solidFill>
                  <a:srgbClr val="252936"/>
                </a:solidFill>
              </a:rPr>
              <a:t>核心原则：没有通过人工审核的证据，不进入可写作的安全论断。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E1403-3C7A-49CC-B046-24D1C1E1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6A44B-1FFB-4FCF-805A-A3B1BD39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1EE62A-D9CD-4E03-B8F8-821C83A7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6562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403877-20F7-48E7-8E86-CB213253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C738-CEDD-4BE5-8765-36904782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EVIDENCE / 角色三角验证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332C1-65BB-4F85-B8F5-AEBD843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949D6-791C-4F24-9B48-5D34B959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三篇论文不是数量展示，而是三种证据关系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35B1-A17D-4F56-8E2F-EA223D81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A50"/>
                </a:solidFill>
              </a:defRPr>
            </a:pPr>
            <a:r>
              <a:rPr sz="1125" b="1">
                <a:solidFill>
                  <a:srgbClr val="287A50"/>
                </a:solidFill>
              </a:rPr>
              <a:t>TANG ·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BCFF0-3673-43D5-88B3-41602CA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936"/>
                </a:solidFill>
              </a:defRPr>
            </a:pPr>
            <a:r>
              <a:rPr sz="1875" b="1">
                <a:solidFill>
                  <a:srgbClr val="252936"/>
                </a:solidFill>
              </a:rPr>
              <a:t>有条件支持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5F189-61A9-4690-8E65-3DC22237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936"/>
                </a:solidFill>
              </a:defRPr>
            </a:pPr>
            <a:r>
              <a:rPr sz="1425" b="1">
                <a:solidFill>
                  <a:srgbClr val="252936"/>
                </a:solidFill>
              </a:rPr>
              <a:t>相关语境可降低科学隐喻加工难度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B8AFF-7344-4E43-858D-89B7BD7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但无关语境会干扰；SMF / SMS 与加工阶段不同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E3DDB-6F2A-4653-9698-2DA6A872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A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2F564-D67D-4A6C-AE9B-D956514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F"/>
                </a:solidFill>
              </a:defRPr>
            </a:pPr>
            <a:r>
              <a:rPr sz="1050" b="0">
                <a:solidFill>
                  <a:srgbClr val="68707F"/>
                </a:solidFill>
              </a:rPr>
              <a:t>PDF 1, 12, 13 · Fig. 10,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56350-5B64-4A93-9C84-0FE9883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02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4F8F6-11EA-46E1-BB24-8F9A2E0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3A3A"/>
                </a:solidFill>
              </a:defRPr>
            </a:pPr>
            <a:r>
              <a:rPr sz="1125" b="1">
                <a:solidFill>
                  <a:srgbClr val="B73A3A"/>
                </a:solidFill>
              </a:rPr>
              <a:t>YAO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46397-0780-4F10-85F4-A2E8082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936"/>
                </a:solidFill>
              </a:defRPr>
            </a:pPr>
            <a:r>
              <a:rPr sz="1875" b="1">
                <a:solidFill>
                  <a:srgbClr val="252936"/>
                </a:solidFill>
              </a:rPr>
              <a:t>直接限定 / 反例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00051-851B-4539-813E-1800EF2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936"/>
                </a:solidFill>
              </a:defRPr>
            </a:pPr>
            <a:r>
              <a:rPr sz="1425" b="1">
                <a:solidFill>
                  <a:srgbClr val="252936"/>
                </a:solidFill>
              </a:rPr>
              <a:t>常规隐喻没有可靠语境效应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354BA-6313-43E0-83AC-5E8543C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00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新颖隐喻是早期 N400 更大、后期整合更容易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8DFCF-6C33-4732-AF5A-30112480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95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3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DF87C-4FF7-485C-A9B9-D3F7C8D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4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F"/>
                </a:solidFill>
              </a:defRPr>
            </a:pPr>
            <a:r>
              <a:rPr sz="1050" b="0">
                <a:solidFill>
                  <a:srgbClr val="68707F"/>
                </a:solidFill>
              </a:rPr>
              <a:t>PDF 1, 8, 9 · Fig. 4,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EDE42-B592-400E-9446-C3F02B9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6590E-F201-4E11-8592-56AF817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6621D"/>
                </a:solidFill>
              </a:defRPr>
            </a:pPr>
            <a:r>
              <a:rPr sz="1125" b="1">
                <a:solidFill>
                  <a:srgbClr val="96621D"/>
                </a:solidFill>
              </a:rPr>
              <a:t>BAIOCCO · 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860C6-2AFE-4CBA-B946-F3D68D5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936"/>
                </a:solidFill>
              </a:defRPr>
            </a:pPr>
            <a:r>
              <a:rPr sz="1875" b="1">
                <a:solidFill>
                  <a:srgbClr val="252936"/>
                </a:solidFill>
              </a:rPr>
              <a:t>边界证据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24074-0845-4157-9E68-1FFAFB84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936"/>
                </a:solidFill>
              </a:defRPr>
            </a:pPr>
            <a:r>
              <a:rPr sz="1425" b="1">
                <a:solidFill>
                  <a:srgbClr val="252936"/>
                </a:solidFill>
              </a:rPr>
              <a:t>任务要求与刺激情绪性改变 ERP 模式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A1CCF-EE5B-4E61-A858-CB7D259E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00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351"/>
                </a:solidFill>
              </a:defRPr>
            </a:pPr>
            <a:r>
              <a:rPr sz="1275" b="0">
                <a:solidFill>
                  <a:srgbClr val="3D4351"/>
                </a:solidFill>
              </a:rPr>
              <a:t>不是支持性语境的直接检验，不能升级为直接支持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FBD1E-52F9-4827-AFD0-97CB2EC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95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662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9128F-12AC-4247-A866-44DAF08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4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F"/>
                </a:solidFill>
              </a:defRPr>
            </a:pPr>
            <a:r>
              <a:rPr sz="1050" b="0">
                <a:solidFill>
                  <a:srgbClr val="68707F"/>
                </a:solidFill>
              </a:rPr>
              <a:t>PDF 1, 10 · Fig. 3,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8ED55-A5EF-46D5-A5C6-86DED36A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B338A-6293-46FF-B34F-E240904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40541-6B2F-4FE5-AD35-32DB367A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0602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AFA3F-6817-412B-9FE7-5FFE73E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265C3-BBEE-4BF9-9293-A783293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OUTPUT / 论断变化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DBEDA-EC9F-4936-B2FA-297A6EC7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56D34-D159-45FA-9464-D730CC8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安全改写不是变保守，而是把边界写完整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17F6F-9A3A-4C34-90BE-D46C9B9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3A3A"/>
                </a:solidFill>
              </a:defRPr>
            </a:pPr>
            <a:r>
              <a:rPr sz="1125" b="1">
                <a:solidFill>
                  <a:srgbClr val="B73A3A"/>
                </a:solidFill>
              </a:rPr>
              <a:t>原论断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CE277-E445-4B9E-92E7-9EB4777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936"/>
                </a:solidFill>
              </a:defRPr>
            </a:pPr>
            <a:r>
              <a:rPr sz="2025" b="1">
                <a:solidFill>
                  <a:srgbClr val="252936"/>
                </a:solidFill>
              </a:rPr>
              <a:t>跨类型 · 稳定 · 单向降低 N400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04944-164B-47EE-9C58-585E29F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3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8EDF6-B722-4762-82FE-D814503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安全论断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25AA0-8DE3-44AB-A5FA-4079F1B1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506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936"/>
                </a:solidFill>
              </a:defRPr>
            </a:pPr>
            <a:r>
              <a:rPr sz="1875" b="1">
                <a:solidFill>
                  <a:srgbClr val="252936"/>
                </a:solidFill>
              </a:rPr>
              <a:t>方向与 ERP 表征取决于语境相关性、</a:t>
            </a:r>
          </a:p>
          <a:p xmlns:a="http://schemas.openxmlformats.org/drawingml/2006/main">
            <a:pPr algn="l">
              <a:defRPr sz="1875" b="1">
                <a:solidFill>
                  <a:srgbClr val="252936"/>
                </a:solidFill>
              </a:defRPr>
            </a:pPr>
            <a:r>
              <a:rPr sz="1875" b="1">
                <a:solidFill>
                  <a:srgbClr val="252936"/>
                </a:solidFill>
              </a:rPr>
              <a:t>隐喻常规性、任务、情绪性与加工阶段。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43CF5-4D8B-4A3C-8232-09C4D27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7EE9A-7BBD-422B-8626-32559007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07F"/>
                </a:solidFill>
              </a:defRPr>
            </a:pPr>
            <a:r>
              <a:rPr sz="1650" b="1">
                <a:solidFill>
                  <a:srgbClr val="68707F"/>
                </a:solidFill>
              </a:rPr>
              <a:t>可能无效应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26C14-B43C-4B36-AEA7-9059047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常规隐喻未必出现可靠语境效应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830E0-D067-4346-9E03-553F5E6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3A3A"/>
                </a:solidFill>
              </a:defRPr>
            </a:pPr>
            <a:r>
              <a:rPr sz="1650" b="1">
                <a:solidFill>
                  <a:srgbClr val="B73A3A"/>
                </a:solidFill>
              </a:rPr>
              <a:t>早期阻碍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94F46-D05C-41D2-99CF-7609E2A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L2 新颖隐喻可能出现更大 N400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04C5A-90C7-46E8-B8CE-8037E624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7A50"/>
                </a:solidFill>
              </a:defRPr>
            </a:pPr>
            <a:r>
              <a:rPr sz="1650" b="1">
                <a:solidFill>
                  <a:srgbClr val="287A50"/>
                </a:solidFill>
              </a:rPr>
              <a:t>后期促进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B1FBE-C64F-4048-B077-169DC7A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86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同一条件下后期整合反而更容易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998E6-03E1-4167-A36E-A0FEE92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改写保留真正能说的部分，也保留证据之间的差异。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ECD4B-14D1-4E3A-A897-8404A3BF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FD5A-1716-48B2-9CC9-8A7362E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54FFA-CADE-4D04-A8A2-AAA37E2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4829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A1CB1-4885-47D5-B436-0F664DA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35A69-DE99-45F4-82AA-D725601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HITL / Evidence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9FE90-7EC0-4709-A885-15747BD2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48982-C978-4036-8F7A-FDAA574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人工审核不是确认按钮，而是导出的硬门控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47EE3-2EA3-40EB-A208-4ACEE51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667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CB3C-6C65-4077-8F6E-70199E2B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07F"/>
                </a:solidFill>
              </a:defRPr>
            </a:pPr>
            <a:r>
              <a:rPr sz="1275" b="1">
                <a:solidFill>
                  <a:srgbClr val="68707F"/>
                </a:solidFill>
              </a:rPr>
              <a:t>暂不进入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3EB3C-4883-40E5-B0BC-9B27362E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333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pending</a:t>
            </a:r>
          </a:p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reject</a:t>
            </a:r>
          </a:p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needs_fix 但未修订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B2DEE-A560-42E3-8D46-AA849312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71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3A3A"/>
                </a:solidFill>
              </a:defRPr>
            </a:pPr>
            <a:r>
              <a:rPr sz="1500" b="1">
                <a:solidFill>
                  <a:srgbClr val="B73A3A"/>
                </a:solidFill>
              </a:rPr>
              <a:t>→ 证据被排除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31ABC-7BD7-49BE-95FE-05E007B0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53530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923CA-F5A9-45A8-8BBF-800F5DE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允许进入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8ECE3-6BE2-4F31-A284-793714A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approve</a:t>
            </a:r>
          </a:p>
          <a:p xmlns:a="http://schemas.openxmlformats.org/drawingml/2006/main">
            <a:pPr algn="l">
              <a:defRPr sz="1950" b="1">
                <a:solidFill>
                  <a:srgbClr val="252936"/>
                </a:solidFill>
              </a:defRPr>
            </a:pPr>
            <a:r>
              <a:rPr sz="1950" b="1">
                <a:solidFill>
                  <a:srgbClr val="252936"/>
                </a:solidFill>
              </a:rPr>
              <a:t>needs_fix + corrected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08AE3-BB72-4EB4-B40B-5FE167B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D2"/>
                </a:solidFill>
              </a:defRPr>
            </a:pPr>
            <a:r>
              <a:rPr sz="1650" b="1">
                <a:solidFill>
                  <a:srgbClr val="1769D2"/>
                </a:solidFill>
              </a:rPr>
              <a:t>→ Markdown · JSON · 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B0091-BD5C-47A3-9161-81973A2B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页码 · 图号 · 审核时间 · 角色 · SHA256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ADDB5-267F-4A04-970F-2FB2C4BC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6621D"/>
                </a:solidFill>
              </a:defRPr>
            </a:pPr>
            <a:r>
              <a:rPr sz="1500" b="1">
                <a:solidFill>
                  <a:srgbClr val="96621D"/>
                </a:solidFill>
              </a:rPr>
              <a:t>Baiocco 即使 approve，仍锁定为 boundary_evidence。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14584-B3AA-4E36-81B2-EF02403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A8C70-0D8F-4B2F-A174-C1A0F1D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029AD-11C1-4278-9B9B-CC6B46E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8248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8DD7E-AA78-49CF-903F-48FD78A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8E3B5-AD85-4DE9-8D0D-EE3745A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F"/>
                </a:solidFill>
              </a:defRPr>
            </a:pPr>
            <a:r>
              <a:rPr sz="1125" b="1">
                <a:solidFill>
                  <a:srgbClr val="68707F"/>
                </a:solidFill>
              </a:rPr>
              <a:t>ENGINEERING / 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215C8-879D-476C-A44A-13EA65E2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9B20-1AC7-4420-BA66-33C6445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2936"/>
                </a:solidFill>
              </a:defRPr>
            </a:pPr>
            <a:r>
              <a:rPr sz="2700" b="1">
                <a:solidFill>
                  <a:srgbClr val="252936"/>
                </a:solidFill>
              </a:rPr>
              <a:t>黄金路径离线、确定性、可复现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6B14B-BACF-4B88-AF59-F393B36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9D2"/>
                </a:solidFill>
              </a:defRPr>
            </a:pPr>
            <a:r>
              <a:rPr sz="3600" b="1">
                <a:solidFill>
                  <a:srgbClr val="1769D2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34468-3C9C-465B-8360-98AD34D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4351"/>
                </a:solidFill>
              </a:defRPr>
            </a:pPr>
            <a:r>
              <a:rPr sz="1350" b="1">
                <a:solidFill>
                  <a:srgbClr val="3D4351"/>
                </a:solidFill>
              </a:rPr>
              <a:t>项自动化测试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47B6B-E66A-4CBF-874D-ABB09DD2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F15AB-51A6-4762-B267-2CD42B61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7A50"/>
                </a:solidFill>
              </a:defRPr>
            </a:pPr>
            <a:r>
              <a:rPr sz="3600" b="1">
                <a:solidFill>
                  <a:srgbClr val="287A50"/>
                </a:solidFill>
              </a:rPr>
              <a:t>3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85B3-4658-4C06-9911-F531E95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4351"/>
                </a:solidFill>
              </a:defRPr>
            </a:pPr>
            <a:r>
              <a:rPr sz="1350" b="1">
                <a:solidFill>
                  <a:srgbClr val="3D4351"/>
                </a:solidFill>
              </a:rPr>
              <a:t>源 PDF 哈希 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834B9-CB13-473F-8643-183622B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575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12287-CD35-4B11-8E43-8D268D0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2936"/>
                </a:solidFill>
              </a:defRPr>
            </a:pPr>
            <a:r>
              <a:rPr sz="3600" b="1">
                <a:solidFill>
                  <a:srgbClr val="252936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28692-5C97-405F-9741-D1123A93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4351"/>
                </a:solidFill>
              </a:defRPr>
            </a:pPr>
            <a:r>
              <a:rPr sz="1350" b="1">
                <a:solidFill>
                  <a:srgbClr val="3D4351"/>
                </a:solidFill>
              </a:rPr>
              <a:t>个运行时 API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8AB81-80F6-4FD9-82CD-3ABC4913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575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29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91E19-8730-4199-9561-8E56942E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2811F-CD74-4E76-B61C-8BBDD29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无网络仍可完成论断审计、审核门控和导出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B6DAC-5DA4-44B9-9484-008FA0C9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隐私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4E732-860B-4B3F-B103-305D6FF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不提交 PDF、密钥、本机配置或绝对路径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49B34-0928-4D24-8E60-5162DC0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B28A-A2BA-4714-8A79-AC116EF9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351"/>
                </a:solidFill>
              </a:defRPr>
            </a:pPr>
            <a:r>
              <a:rPr sz="1200" b="0">
                <a:solidFill>
                  <a:srgbClr val="3D4351"/>
                </a:solidFill>
              </a:rPr>
              <a:t>证据保留页码、图号、时间窗、角色和哈希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4903D-EC4B-43E2-BF0F-EC35DA8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936"/>
                </a:solidFill>
              </a:defRPr>
            </a:pPr>
            <a:r>
              <a:rPr sz="1575" b="1">
                <a:solidFill>
                  <a:srgbClr val="252936"/>
                </a:solidFill>
              </a:rPr>
              <a:t>确定性黄金路径保证现场演示不依赖模型随机性。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23535-BEB3-47FE-A427-AEC0AB3E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B14C6-2380-4AE0-A8A3-7DAFA86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F"/>
                </a:solidFill>
              </a:defRPr>
            </a:pPr>
            <a:r>
              <a:rPr sz="900" b="0">
                <a:solidFill>
                  <a:srgbClr val="68707F"/>
                </a:solidFill>
              </a:rPr>
              <a:t>NeuroTrace · ERP/EEG 科研论断防火墙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BD225-6468-409C-931B-124213B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F"/>
                </a:solidFill>
              </a:defRPr>
            </a:pPr>
            <a:r>
              <a:rPr sz="900" b="1">
                <a:solidFill>
                  <a:srgbClr val="68707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0061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52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EF64D-66F0-4C8B-A679-4A2F5E4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BEFF"/>
                </a:solidFill>
              </a:defRPr>
            </a:pPr>
            <a:r>
              <a:rPr sz="1125" b="1">
                <a:solidFill>
                  <a:srgbClr val="8EBEFF"/>
                </a:solidFill>
              </a:rPr>
              <a:t>CURRENT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52356-5649-4C1A-870D-F5F6DD4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9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6FA"/>
                </a:solidFill>
              </a:defRPr>
            </a:pPr>
            <a:r>
              <a:rPr sz="3000" b="1">
                <a:solidFill>
                  <a:srgbClr val="F4F6FA"/>
                </a:solidFill>
              </a:rPr>
              <a:t>先把一个危险问题做窄，</a:t>
            </a:r>
          </a:p>
          <a:p xmlns:a="http://schemas.openxmlformats.org/drawingml/2006/main">
            <a:pPr algn="l">
              <a:defRPr sz="3000" b="1">
                <a:solidFill>
                  <a:srgbClr val="F4F6FA"/>
                </a:solidFill>
              </a:defRPr>
            </a:pPr>
            <a:r>
              <a:rPr sz="3000" b="1">
                <a:solidFill>
                  <a:srgbClr val="F4F6FA"/>
                </a:solidFill>
              </a:rPr>
              <a:t>再把防火墙扩展到更多论断。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E2E0-129E-4D92-9B55-4EE7C5D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05860-74C4-4716-9E25-7D7CD9C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BEFF"/>
                </a:solidFill>
              </a:defRPr>
            </a:pPr>
            <a:r>
              <a:rPr sz="1275" b="1">
                <a:solidFill>
                  <a:srgbClr val="8EBEFF"/>
                </a:solidFill>
              </a:rPr>
              <a:t>现在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6EFA3-4F03-48E6-A42A-C1DA947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6FA"/>
                </a:solidFill>
              </a:defRPr>
            </a:pPr>
            <a:r>
              <a:rPr sz="1875" b="1">
                <a:solidFill>
                  <a:srgbClr val="F4F6FA"/>
                </a:solidFill>
              </a:rPr>
              <a:t>3 篇黄金论文 · 1 条黄金论断</a:t>
            </a:r>
          </a:p>
          <a:p xmlns:a="http://schemas.openxmlformats.org/drawingml/2006/main">
            <a:pPr algn="l">
              <a:defRPr sz="1875" b="1">
                <a:solidFill>
                  <a:srgbClr val="F4F6FA"/>
                </a:solidFill>
              </a:defRPr>
            </a:pPr>
            <a:r>
              <a:rPr sz="1875" b="1">
                <a:solidFill>
                  <a:srgbClr val="F4F6FA"/>
                </a:solidFill>
              </a:rPr>
              <a:t>claim-level 证据边界闭环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8D41-DD31-4C76-84D6-F9821819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BEFF"/>
                </a:solidFill>
              </a:defRPr>
            </a:pPr>
            <a:r>
              <a:rPr sz="1275" b="1">
                <a:solidFill>
                  <a:srgbClr val="8EBEFF"/>
                </a:solidFill>
              </a:rPr>
              <a:t>可选扩展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BB23-D750-4FBE-9065-FFF60E1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6FA"/>
                </a:solidFill>
              </a:defRPr>
            </a:pPr>
            <a:r>
              <a:rPr sz="1875" b="1">
                <a:solidFill>
                  <a:srgbClr val="F4F6FA"/>
                </a:solidFill>
              </a:rPr>
              <a:t>20 篇 seed paper · 805 条机器候选</a:t>
            </a:r>
          </a:p>
          <a:p xmlns:a="http://schemas.openxmlformats.org/drawingml/2006/main">
            <a:pPr algn="l">
              <a:defRPr sz="1875" b="1">
                <a:solidFill>
                  <a:srgbClr val="F4F6FA"/>
                </a:solidFill>
              </a:defRPr>
            </a:pPr>
            <a:r>
              <a:rPr sz="1875" b="1">
                <a:solidFill>
                  <a:srgbClr val="F4F6FA"/>
                </a:solidFill>
              </a:rPr>
              <a:t>默认隐藏，未经审核不称为 Gold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39D3B-932F-4295-BA7D-5F4DB4A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EDA"/>
                </a:solidFill>
              </a:defRPr>
            </a:pPr>
            <a:r>
              <a:rPr sz="1575" b="0">
                <a:solidFill>
                  <a:srgbClr val="C7CEDA"/>
                </a:solidFill>
              </a:rPr>
              <a:t>下一步：接入模型生成候选拆解，但把证据角色、引用边界和人工门控继续作为确定性防火墙。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2DF2E-E49D-4783-B445-98676CE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6FA"/>
                </a:solidFill>
              </a:defRPr>
            </a:pPr>
            <a:r>
              <a:rPr sz="1800" b="1">
                <a:solidFill>
                  <a:srgbClr val="F4F6FA"/>
                </a:solidFill>
              </a:rPr>
              <a:t>NeuroTrace · 先审计，再写入论文。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A2FE4-6056-4CB0-8078-0195F871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98A8"/>
                </a:solidFill>
              </a:defRPr>
            </a:pPr>
            <a:r>
              <a:rPr sz="975" b="1">
                <a:solidFill>
                  <a:srgbClr val="8F98A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071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2026-08-31T13:00:43.6180000Z</dcterms:created>
  <dcterms:modified xsi:type="dcterms:W3CDTF">2026-08-31T13:00:43.6180000Z</dcterms:modified>
</coreProperties>
</file>